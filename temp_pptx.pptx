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0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大家好，欢迎参加本次分享。今天我将为大家带来一份详尽的《计算机编程学习完全指南》，希望能为各位在编程学习的道路上提供清晰的指引，帮助大家从入门走向精通。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六个部分。首先，我们会探讨学习编程的动机；接着，了解编程的核心概念；然后，学习如何选择第一门语言；之后，我会推荐一些高效的学习资源；再通过实战项目来巩固所学；最后，一起探讨如何进阶成为高级开发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现在，让我们进入第一部分：为什么要学习编程？在开始学习之前，明确自己的动机至关重要。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学习编程最大的收获之一是思维能力的提升。编程就像做“思维体操”，它能帮助我们锻炼逻辑推理、抽象思维和分析问题的能力。我们会学会将一个复杂的大问题，分解成一个个可以解决的小问题，这种结构化的思维方式，对我们处理生活和工作中的任何问题都大有裨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从职业发展的角度看，编程技能能为我们打开广阔的大门。程序员是当前乃至未来的热门职业，市场需求大，薪资待遇也非常可观。除了成为程序员，掌握编程技能还能让我们从事数据分析、人工智能、游戏开发等多种前沿工作。即使你不打算做程序员，编程能力也是产品经理、运营、设计师等岗位的重要加分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了解了学习编程的好处，接下来我们进入第二部分，一起学习编程世界的基石——那些核心的概念。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核心概念是变量和数据类型。变量就像是一个带标签的盒子，我们可以用它来存储各种信息。而数据类型则定义了这个盒子里能装什么。最常见的有整数、浮点数、字符串和布尔值。比如，我们可以用一个字符串变量存储名字，用一个整数变量存储年龄。理解这些基本概念是编写任何程序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核心概念是控制流，主要包括条件判断和循环。条件判断，也就是if-else语句，它能让程序根据不同的情况做出不同的选择。而循环，比如for循环或while循环，则能让程序重复执行某段代码，直到满足特定条件。这两种结构是让程序变得“智能”和高效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核心概念是函数。函数是代码模块化的体现，它就像一个功能明确的工具。我们可以把一段完成特定任务的代码封装成一个函数，然后在需要的时候直接调用它，而不用重复编写相同的代码。这极大地提高了代码的复用性、可读性和可维护性。比如，我们可以定义一个“加法”函数，以后每次需要做加法时，直接调用这个函数就可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掌握了核心概念后，我们就面临一个关键问题：应该选择哪门语言作为入门呢？这是很多初学者都会困惑的地方。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选择语言的首要原则是：根据你的学习目标来定。如果你想做Web开发，可以选择JavaScript或Python；如果你的目标是数据科学或人工智能，那么Python是首选；想做移动开发，可以考虑Swift、Kotlin或Flutter；游戏开发通常会用到C#或C++；而系统底层开发则离不开C和C++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你的目标不明确，只是想先体验一下编程，那么我推荐从Python或JavaScript开始。Python语法非常简洁，像读英语一样，容易上手。JavaScript则可以让你快速在网页上看到效果，很有成就感。相比之下，C或C++这类语言更适合有一定基础后再学习，因为它们涉及较多底层概念，容易让新手感到挫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选好了语言，接下来就是找对学习资源。好的资源能让你的学习事半功倍。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线课程平台是很好的起点。像Coursera和edX，上面有很多世界顶尖大学的课程，非常系统。Udemy和Pluralsight则课程选择更多，更新也快。国内的中国大学MOOC和学堂在线也提供了很多优质的免费课程。特别推荐freeCodeCamp，它是完全免费的，而且采用项目驱动的方式，能让你在实践中学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除了课程，官方文档是你必须掌握的技能，它是最权威的资料。而当你遇到问题时，Stack Overflow这个全球最大的程序员问答社区会是你的救星。此外，一定要去GitHub看看，那里有无数优秀的开源项目供你学习，也是展示你作品的最佳平台。国内的掘金和CSDN也有很多优质的中文资源。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学完了理论知识，最重要的一步就是动手实践。项目驱动是最高效的学习方式之一。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项目实战如此重要？首先，它能帮助你巩固知识，把书本上的理论真正变成自己的技能。其次，在做项目的过程中，你会不断遇到问题，这正是锻炼你解决问题能力的最佳方式。最后，一个实实在在的项目，是你向未来雇主证明自己能力的最好名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不同的学习阶段，你可以尝试不同难度的项目。初级阶段，可以做一些简单的小工具，比如计算器、待办事项列表。到了中级，可以尝试构建一个完整的网站或应用。当你有了一定基础后，就可以挑战更复杂的系统，甚至参与开源项目，这会让你的能力得到质的飞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当你完成了一些项目，感觉自己有了一定基础后，如何进一步提升，成为一名高级开发者呢？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成为高级开发者，首先要深入学习计算机的基础知识，比如数据结构、算法、设计模式等，这些是你的内功。同时，要保持对前沿技术的关注，不断学习新东西。积极参与开源社区和技术讨论，能让你快速成长。最重要的是，保持对编程的热情和好奇心。记住，学习编程没有捷径，唯有坚持和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我的分享到此结束，感谢大家的聆听。祝愿大家在编程学习的道路上一帆风顺，享受编程带来的乐趣和成就感！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4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notesSlides/notesSlide7.xml" Type="http://schemas.openxmlformats.org/officeDocument/2006/relationships/notesSlide"/><Relationship Id="rId2" Target="../media/image4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8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4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notesSlides/notesSlide9.xml" Type="http://schemas.openxmlformats.org/officeDocument/2006/relationships/notesSlide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13" Target="../notesSlides/notesSlide11.xml" Type="http://schemas.openxmlformats.org/officeDocument/2006/relationships/notesSlide"/><Relationship Id="rId2" Target="../media/image4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67.jpeg" Type="http://schemas.openxmlformats.org/officeDocument/2006/relationships/image"/><Relationship Id="rId4" Target="../media/image68.jpeg" Type="http://schemas.openxmlformats.org/officeDocument/2006/relationships/image"/><Relationship Id="rId5" Target="../media/image69.jpeg" Type="http://schemas.openxmlformats.org/officeDocument/2006/relationships/image"/><Relationship Id="rId6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7.jpe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4.jpeg" Type="http://schemas.openxmlformats.org/officeDocument/2006/relationships/image"/><Relationship Id="rId3" Target="../media/image70.jpeg" Type="http://schemas.openxmlformats.org/officeDocument/2006/relationships/image"/><Relationship Id="rId4" Target="../media/image71.jpeg" Type="http://schemas.openxmlformats.org/officeDocument/2006/relationships/image"/><Relationship Id="rId5" Target="../media/image72.jpe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80.jpeg" Type="http://schemas.openxmlformats.org/officeDocument/2006/relationships/image"/><Relationship Id="rId6" Target="../media/image81.jpe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84.jpe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89.png" Type="http://schemas.openxmlformats.org/officeDocument/2006/relationships/image"/><Relationship Id="rId4" Target="../media/image90.svg" Type="http://schemas.openxmlformats.org/officeDocument/2006/relationships/image"/><Relationship Id="rId5" Target="../media/image91.png" Type="http://schemas.openxmlformats.org/officeDocument/2006/relationships/image"/><Relationship Id="rId6" Target="../media/image92.svg" Type="http://schemas.openxmlformats.org/officeDocument/2006/relationships/image"/><Relationship Id="rId7" Target="../media/image93.png" Type="http://schemas.openxmlformats.org/officeDocument/2006/relationships/image"/><Relationship Id="rId8" Target="../media/image94.sv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0.svg" Type="http://schemas.openxmlformats.org/officeDocument/2006/relationships/image"/><Relationship Id="rId11" Target="../media/image101.png" Type="http://schemas.openxmlformats.org/officeDocument/2006/relationships/image"/><Relationship Id="rId12" Target="../media/image102.svg" Type="http://schemas.openxmlformats.org/officeDocument/2006/relationships/image"/><Relationship Id="rId13" Target="../notesSlides/notesSlide20.xml" Type="http://schemas.openxmlformats.org/officeDocument/2006/relationships/notesSlide"/><Relationship Id="rId2" Target="../media/image4.jpe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95.png" Type="http://schemas.openxmlformats.org/officeDocument/2006/relationships/image"/><Relationship Id="rId6" Target="../media/image96.svg" Type="http://schemas.openxmlformats.org/officeDocument/2006/relationships/image"/><Relationship Id="rId7" Target="../media/image97.png" Type="http://schemas.openxmlformats.org/officeDocument/2006/relationships/image"/><Relationship Id="rId8" Target="../media/image98.sv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03.png" Type="http://schemas.openxmlformats.org/officeDocument/2006/relationships/image"/><Relationship Id="rId4" Target="../media/image104.svg" Type="http://schemas.openxmlformats.org/officeDocument/2006/relationships/image"/><Relationship Id="rId5" Target="../notesSlides/notesSlide21.xml" Type="http://schemas.openxmlformats.org/officeDocument/2006/relationships/notesSlide"/><Relationship Id="rId6" Target="../media/image10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计算机编程学习完全指南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1EA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从入门到精通的进阶之路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762040" y="1327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1EA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812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8796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为什么要学习编程？</a:t>
            </a: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探索学习动机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16200"/>
            <a:ext cx="508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8194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27178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编程世界的基石</a:t>
            </a: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掌握核心概念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54400"/>
            <a:ext cx="508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57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3556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选择你的第一门语言</a:t>
            </a: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语言选择策略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292600"/>
            <a:ext cx="508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958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60500" y="43942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高效学习资源推荐</a:t>
            </a: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找到最佳路径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130800"/>
            <a:ext cx="5080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460500" y="52324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05. 从理论到实践</a:t>
            </a: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实战项目驱动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09600" y="2286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为什么要学习编程？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3175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探索学习动机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380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77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09600" y="4064000"/>
            <a:ext cx="10972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提升逻辑思维与解决问题能力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588000" cy="4318000"/>
          </a:xfrm>
          <a:prstGeom prst="roundRect">
            <a:avLst>
              <a:gd name="adj" fmla="val 2941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9685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304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思维体操：锻炼核心能力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3368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编程是一种系统性的思维训练，能有效锻炼逻辑推理、抽象思维和分析问题的能力。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814" flipH="false" flipV="false">
            <a:off x="1079508" y="3105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33020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2639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结构化思维：化繁为简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6703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学会将复杂的大问题分解为可执行的小问题，培养拆解问题与结构化解决的思路。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814" flipH="false" flipV="false">
            <a:off x="1079508" y="4438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635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5974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严谨调试：提升专注力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50038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通过反复调试程序排查错误，在实践中磨练耐心，提升严谨细致的专注力。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0" t="10526" b="10526"/>
          <a:stretch>
            <a:fillRect/>
          </a:stretch>
        </p:blipFill>
        <p:spPr>
          <a:xfrm rot="0" flipH="false" flipV="false">
            <a:off x="6604000" y="1905000"/>
            <a:ext cx="4826000" cy="3810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0" blurRad="254000" algn="tl" rotWithShape="false">
              <a:srgbClr val="41EAD4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开启广阔的职业发展空间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0D1B2A">
              <a:alpha val="6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685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热门职业，前景广阔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程序员是当前及未来的热门职业，市场需求旺盛，薪资待遇优厚，是技术领域的黄金赛道。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2385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0D1B2A">
              <a:alpha val="60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34290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多元领域，跨界发展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掌握编程技能，可从事软件开发、数据分析、人工智能、游戏开发等多种前沿技术工作。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699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0D1B2A">
              <a:alpha val="6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48895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通用技能，职场加分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即使不做程序员，编程能力也是产品经理、运营、设计师等岗位的重要竞争力与加分项。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rcRect l="0" r="0" t="9448" b="9448"/>
          <a:stretch>
            <a:fillRect/>
          </a:stretch>
        </p:blipFill>
        <p:spPr>
          <a:xfrm rot="0" flipH="false" flipV="false">
            <a:off x="6731000" y="2032000"/>
            <a:ext cx="4699000" cy="3937000"/>
          </a:xfrm>
          <a:prstGeom prst="roundRect">
            <a:avLst>
              <a:gd name="adj" fmla="val 6451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0" blurRad="254000" algn="tl" rotWithShape="false">
              <a:srgbClr val="41EAD4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编程世界的基石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77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27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掌握核心概念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变量与数据类型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D1B2A">
              <a:alpha val="8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879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什么是变量？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606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变量是用于存储数据的容器，就像一个带标签的盒子，方便我们随时存取信息。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549" flipH="false" flipV="false">
            <a:off x="1016009" y="2851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022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常见数据类型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3467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整数 (int)：</a:t>
            </a: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如 1, 2, 3 等没有小数的数字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3848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浮点数 (float)：</a:t>
            </a: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如 3.14, 2.5 等包含小数的数字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33500" y="4229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 (string)：</a:t>
            </a: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如 "Hello" 等文本信息，需用引号包裹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46355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4610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布尔值 (boolean)：</a:t>
            </a: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只有 True (真) 或 False (假) 两个值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141414">
              <a:alpha val="9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31000" y="1879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代码示例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2413000"/>
            <a:ext cx="4572000" cy="3302000"/>
          </a:xfrm>
          <a:prstGeom prst="roundRect">
            <a:avLst>
              <a:gd name="adj" fmla="val 1923"/>
            </a:avLst>
          </a:prstGeom>
          <a:solidFill>
            <a:srgbClr val="1E1E1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2540000"/>
            <a:ext cx="4318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定义变量并赋值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77D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r>
              <a:rPr lang="en-US" b="false" i="false" strike="noStrike" u="none" sz="1400">
                <a:solidFill>
                  <a:srgbClr val="C8C8C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US" b="false" i="false" strike="noStrike" u="none" sz="1400">
                <a:solidFill>
                  <a:srgbClr val="41EA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"Alice"</a:t>
            </a:r>
            <a:r>
              <a:rPr lang="en-US" b="false" i="false" strike="noStrike" u="none" sz="1400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字符串类型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77D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age</a:t>
            </a:r>
            <a:r>
              <a:rPr lang="en-US" b="false" i="false" strike="noStrike" u="none" sz="1400">
                <a:solidFill>
                  <a:srgbClr val="C8C8C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US" b="false" i="false" strike="noStrike" u="none" sz="1400">
                <a:solidFill>
                  <a:srgbClr val="FFA5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25</a:t>
            </a:r>
            <a:r>
              <a:rPr lang="en-US" b="false" i="false" strike="noStrike" u="none" sz="1400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整数类型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77D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height</a:t>
            </a:r>
            <a:r>
              <a:rPr lang="en-US" b="false" i="false" strike="noStrike" u="none" sz="1400">
                <a:solidFill>
                  <a:srgbClr val="C8C8C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US" b="false" i="false" strike="noStrike" u="none" sz="1400">
                <a:solidFill>
                  <a:srgbClr val="FFA5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1.65</a:t>
            </a:r>
            <a:r>
              <a:rPr lang="en-US" b="false" i="false" strike="noStrike" u="none" sz="1400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浮点数类型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77D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is_student</a:t>
            </a:r>
            <a:r>
              <a:rPr lang="en-US" b="false" i="false" strike="noStrike" u="none" sz="1400">
                <a:solidFill>
                  <a:srgbClr val="C8C8C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-US" b="false" i="false" strike="noStrike" u="none" sz="1400">
                <a:solidFill>
                  <a:srgbClr val="569CD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True</a:t>
            </a:r>
            <a:r>
              <a:rPr lang="en-US" b="false" i="false" strike="noStrike" u="none" sz="1400">
                <a:solidFill>
                  <a:srgbClr val="8080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布尔值类型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控制流：条件判断与循环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条件判断 (if-else)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495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根据不同的条件执行不同的代码块。例如：如果下雨，就带伞；否则，就不带伞。这赋予了程序“选择”的能力。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64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2926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循环 (for/while)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7625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重复执行一段代码，直到满足特定条件。例如：把1到100的数字全部打印出来。这是实现自动化任务的核心。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1651000"/>
            <a:ext cx="5334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1EAD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12000" y="196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逻辑分支可视化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540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通过流程图节点展示条件为真(True)或假(False)时的不同执行路径，清晰界定程序走向。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4064000"/>
            <a:ext cx="5334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C77D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4318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112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迭代过程可视化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953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展示从初始化、条件判断、循环体执行到更新变量的闭环过程，体现高效的重复运算逻辑。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函数：代码的模块化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879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什么是函数？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函数是组织好的、可重复使用的代码块，用于执行特定任务。它是代码模块化的核心体现。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549" flipH="false" flipV="false">
            <a:off x="1016009" y="310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276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7211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提高复用性：</a:t>
            </a:r>
            <a:r>
              <a:rPr lang="en-US" b="false" i="false" strike="noStrike" u="none" sz="13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写一次，多次调用，避免重复造轮子。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42291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提高可读性：</a:t>
            </a:r>
            <a:r>
              <a:rPr lang="en-US" b="false" i="false" strike="noStrike" u="none" sz="13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用一个名字概括功能，代码逻辑更清晰。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7371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提高可维护性：</a:t>
            </a:r>
            <a:r>
              <a:rPr lang="en-US" b="false" i="false" strike="noStrike" u="none" sz="13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一处修改，全局生效，降低维护成本。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85000" y="1879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代码示例：加法函数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2413000"/>
            <a:ext cx="4572000" cy="3048000"/>
          </a:xfrm>
          <a:prstGeom prst="roundRect">
            <a:avLst>
              <a:gd name="adj" fmla="val 2083"/>
            </a:avLst>
          </a:prstGeom>
          <a:solidFill>
            <a:srgbClr val="000000">
              <a:alpha val="5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2540000"/>
            <a:ext cx="431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定义一个计算两数之和的函数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77D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-US" b="false" i="false" strike="noStrike" u="none" sz="13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add(a, b):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77D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US" b="false" i="false" strike="noStrike" u="none" sz="13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 + b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调用函数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result = add(3, 5)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print(result)</a:t>
            </a:r>
            <a:r>
              <a:rPr lang="en-US" b="false" i="false" strike="noStrike" u="none" sz="1300">
                <a:solidFill>
                  <a:srgbClr val="6A99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输出 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选择你的第一门语言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7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38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语言选择策略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508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根据学习目标选择语言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Web 开发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946" flipH="false" flipV="false">
            <a:off x="1016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JavaScript, Python, Ruby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651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43500" y="1879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数据科学 / AI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946" flipH="false" flipV="false">
            <a:off x="46355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35500" y="2476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Python, R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1651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763000" y="1879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移动开发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946" flipH="false" flipV="false">
            <a:off x="8255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255000" y="2476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Swift, Kotlin, Flutter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064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4292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游戏开发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946" flipH="false" flipV="false">
            <a:off x="1016014" y="475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4889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C#, C++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81500" y="4064000"/>
            <a:ext cx="3429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4318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5143500" y="4292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 / 底层开发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4946" flipH="false" flipV="false">
            <a:off x="4635514" y="475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4635500" y="4889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C, C++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新手友好型语言推荐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85000"/>
            </a:srgbClr>
          </a:solidFill>
          <a:ln w="12700" cmpd="sng" cap="flat">
            <a:solidFill>
              <a:srgbClr val="41EA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656" b="656"/>
          <a:stretch>
            <a:fillRect/>
          </a:stretch>
        </p:blipFill>
        <p:spPr>
          <a:xfrm rot="0" flipH="false" flipV="false">
            <a:off x="1079500" y="2032000"/>
            <a:ext cx="2667000" cy="88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952500" y="3048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Python：简洁优雅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946" flipH="false" flipV="false">
            <a:off x="952514" y="348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52500" y="36195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语法简洁，可读性高，社区庞大，适合快速入门和验证想法。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85000"/>
            </a:srgbClr>
          </a:solidFill>
          <a:ln w="12700" cmpd="sng" cap="flat">
            <a:solidFill>
              <a:srgbClr val="C77D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10545" b="10545"/>
          <a:stretch>
            <a:fillRect/>
          </a:stretch>
        </p:blipFill>
        <p:spPr>
          <a:xfrm rot="0" flipH="false" flipV="false">
            <a:off x="4889500" y="2032000"/>
            <a:ext cx="2413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635500" y="3048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JavaScript：所见即所得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946" flipH="false" flipV="false">
            <a:off x="4635514" y="348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35500" y="36195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与HTML/CSS结合紧密，能快速看到网页上的效果，成就感强。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85000"/>
            </a:srgbClr>
          </a:solidFill>
          <a:ln w="12700" cmpd="sng" cap="flat">
            <a:solidFill>
              <a:srgbClr val="FF6B6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0" r="0" t="26453" b="26453"/>
          <a:stretch>
            <a:fillRect/>
          </a:stretch>
        </p:blipFill>
        <p:spPr>
          <a:xfrm rot="0" flipH="false" flipV="false">
            <a:off x="8699500" y="2032000"/>
            <a:ext cx="2159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318500" y="3048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6B6B"/>
                </a:solidFill>
                <a:latin typeface="Noto Sans SC"/>
                <a:ea typeface="Noto Sans SC"/>
                <a:cs typeface="Noto Sans SC"/>
                <a:sym typeface="Noto Sans SC"/>
              </a:rPr>
              <a:t>C/C++：暂不推荐入门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946" flipH="false" flipV="false">
            <a:off x="8318514" y="3486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6B6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18500" y="36195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语法相对复杂，需要处理内存管理等底层问题，容易打击新手信心。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175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高效学习资源推荐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77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27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找到最佳路径 · 开启进阶之旅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优质在线课程平台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19050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12507" r="12507" t="0" b="0"/>
          <a:stretch>
            <a:fillRect/>
          </a:stretch>
        </p:blipFill>
        <p:spPr>
          <a:xfrm rot="0" flipH="false" flipV="false">
            <a:off x="1905000" y="1905000"/>
            <a:ext cx="1016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730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Coursera / edX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111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提供世界顶尖大学的课程，系统全面，适合建立知识体系。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C77D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21340" r="21340" t="0" b="0"/>
          <a:stretch>
            <a:fillRect/>
          </a:stretch>
        </p:blipFill>
        <p:spPr>
          <a:xfrm rot="0" flipH="false" flipV="false">
            <a:off x="6477000" y="19050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66000" y="1968500"/>
            <a:ext cx="635000" cy="635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2730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Udemy / Pluralsight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3111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课程种类繁多，更新快，价格灵活，适合针对性进阶学习。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27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635000" cy="635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016000" y="508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中国大学MOOC / 学堂在线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461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提供国内知名高校的免费课程，适合中文用户。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127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C77D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rcRect l="25120" r="25120" t="0" b="0"/>
          <a:stretch>
            <a:fillRect/>
          </a:stretch>
        </p:blipFill>
        <p:spPr>
          <a:xfrm rot="0" flipH="false" flipV="false">
            <a:off x="6477000" y="4381500"/>
            <a:ext cx="1270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477000" y="508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freeCodeCamp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5461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免费的交互式编程学习平台，项目驱动，边学边练。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官方文档与开发者社区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85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9050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官方文档 (Official Docs)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76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学习一门语言最权威、最准确的资料，必须学会阅读。它是解决疑难问题的终极依据。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85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333" r="333" t="0" b="0"/>
          <a:stretch>
            <a:fillRect/>
          </a:stretch>
        </p:blipFill>
        <p:spPr>
          <a:xfrm rot="0" flipH="false" flipV="false">
            <a:off x="6477000" y="1905000"/>
            <a:ext cx="1270000" cy="38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6477000" y="2413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全球最大的程序员问答社区，遇到问题时，90%的答案都能在这里找到，是程序员的救星。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85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rcRect l="10000" r="10000" t="0" b="0"/>
          <a:stretch>
            <a:fillRect/>
          </a:stretch>
        </p:blipFill>
        <p:spPr>
          <a:xfrm rot="0" flipH="false" flipV="false">
            <a:off x="1016000" y="4318000"/>
            <a:ext cx="609600" cy="60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1778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GitHub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953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全球最大的开源代码库，可以阅读优秀代码，参与开源项目，也是展示自己作品的最佳平台。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4064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0D1B2A">
              <a:alpha val="85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239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掘金 / CSDN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953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国内优秀的技术社区和博客平台，拥有大量实用的中文教程、技术文章和经验分享。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77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从理论到实践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77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0" y="4127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实战项目驱动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为什么项目实战如此重要？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968500" y="2095500"/>
            <a:ext cx="889000" cy="88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111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巩固知识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3556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将抽象的理论知识应用到实际问题中，才能真正理解和掌握，将书本知识转化为自身技能。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C77D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651500" y="2095500"/>
            <a:ext cx="889000" cy="889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572000" y="3111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锻炼能力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3556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在项目中不断遇到并解决新问题，有效锻炼解决问题、调试代码以及团队协作的综合能力。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334500" y="2095500"/>
            <a:ext cx="889000" cy="889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3111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展示成果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3556000"/>
            <a:ext cx="292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一个完整的项目是学习成果的最好证明，也是简历上最有说服力的部分，助你赢得工作机会。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不同阶段的项目建议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095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初级阶段：基础积累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365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命令行计算器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个人待办事项列表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简单网页爬虫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C77D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095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中级阶段：完整应用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3365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简单博客/电商网站模块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数据可视化分析报告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前后端交互应用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0D1B2A">
              <a:alpha val="70000"/>
            </a:srgbClr>
          </a:solidFill>
          <a:ln w="12700" cmpd="sng" cap="flat">
            <a:solidFill>
              <a:srgbClr val="41EAD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0955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高级阶段：系统架构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33655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移动应用开发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参与开源项目核心开发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DCDCDC"/>
              </a:buClr>
              <a:buChar char="•"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构建自研框架或库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1778000"/>
            <a:ext cx="762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进阶与突破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77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419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成为高级开发者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持续学习，不断突破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676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深入学习计算机基础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032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掌握数据结构、算法、设计模式与操作系统原理，夯实内功，决定职业发展的深度与广度。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714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1676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关注前沿技术动态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0" y="20320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保持对云计算、微服务、AI及区块链等领域的敏感度，紧跟技术潮流，避免知识老化。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111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C77D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3263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77DFF"/>
                </a:solidFill>
                <a:latin typeface="Noto Sans SC"/>
                <a:ea typeface="Noto Sans SC"/>
                <a:cs typeface="Noto Sans SC"/>
                <a:sym typeface="Noto Sans SC"/>
              </a:rPr>
              <a:t>参与开源与技术社区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3619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通过贡献代码、分享博客和参与讨论，与全球开发者交流，拓宽技术视野，加速个人成长。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111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1EA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302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85000" y="3263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保持热情与好奇心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85000" y="3619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编程世界日新月异，保持对技术的热爱和探索的好奇心，是克服挑战、不断前进的源动力。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092" flipH="false" flipV="false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62000" y="5016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143000" y="4978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总结：学习编程没有捷径，唯有坚持和实践。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41EAD4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77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0E1DD"/>
                </a:solidFill>
                <a:latin typeface="Noto Sans SC"/>
                <a:ea typeface="Noto Sans SC"/>
                <a:cs typeface="Noto Sans SC"/>
                <a:sym typeface="Noto Sans SC"/>
              </a:rPr>
              <a:t>祝您学习愉快，编程之路一帆风顺！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